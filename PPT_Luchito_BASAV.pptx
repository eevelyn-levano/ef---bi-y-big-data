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ES" sz="1400" b="0" i="0" u="none" strike="noStrike">
                <a:solidFill>
                  <a:srgbClr val="000000"/>
                </a:solidFill>
                <a:latin typeface="Arial"/>
              </a:rPr>
              <a:t>Latencia con 1,000 registros (ms)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80004647856518"/>
          <c:y val="0.14356216452673146"/>
          <c:w val="0.86885138706620002"/>
          <c:h val="0.75556826511550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Latencia (ms)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62-48D7-B050-5DA65CF2B522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62-48D7-B050-5DA65CF2B52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SQL Server</c:v>
                </c:pt>
                <c:pt idx="1">
                  <c:v>Spark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62-48D7-B050-5DA65CF2B5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70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 (≈0:45): saludo, presentación del grupo y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2 (≈0:45). Contexto de la empresa y resultado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3 (≈1:15). Recorrer el flujo manual y sus consecuencias.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4 (≈1:00). Objetivo general, 5 objetivos específicos y límites.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5 (≈1:00). RF/RNF clave y quién usa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6 (≈1:15). Dos flujos paralelos que convergen en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7 (≈1:30). Base transaccional y Data Mart en estrella de Kimball.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8 (≈1:30). Extracción, transformación y carga con reglas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9 (≈1:00). Cuatro KPI y su fórmula DAX.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10 (≈1:15). Tablero por cliente; 23.5 + 9.5 + 10.0 = 43.0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11 (≈1:30). Justificación del volumen y pipeline PySpark.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12 (≈1:30). Demo en vivo: SQL Server, Power BI, Spark. Respaldo: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13 (≈1:45). Resultado con 1,000 registros; hipótesis pendiente de 1 M y 5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14 (≈1:30). Cinco hallazgos y próximos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sección 15 (≈0:30). Cierre y evidencias en Blackboard.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254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6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736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52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437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728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40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80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468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638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693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84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945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1590" cy="514350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1406" y="3657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horas motor con BI y Big Data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393968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Transportes Luchito EIRL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420191" y="2592681"/>
            <a:ext cx="5856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Avanzadas y Big Data · Proyecto final · UPN 2026-2</a:t>
            </a:r>
          </a:p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NRC 226534</a:t>
            </a:r>
            <a:endParaRPr lang="en-US" sz="1600" b="1" dirty="0"/>
          </a:p>
        </p:txBody>
      </p:sp>
      <p:sp>
        <p:nvSpPr>
          <p:cNvPr id="6" name="Text 4"/>
          <p:cNvSpPr txBox="1"/>
          <p:nvPr/>
        </p:nvSpPr>
        <p:spPr>
          <a:xfrm>
            <a:off x="1353786" y="3909357"/>
            <a:ext cx="4372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Evelyn G.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Lévano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Diaz</a:t>
            </a:r>
          </a:p>
          <a:p>
            <a:pPr marL="0" indent="0">
              <a:buNone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Artemio Calderón Pérez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578A9EA-DE51-4826-B6CB-CC9CC1C090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96" y="2565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17520" y="274320"/>
            <a:ext cx="40672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años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Transportes Luchito: carga pesada y alquiler de volquetes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cliente: factura por horas motor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 h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validadas que llegan al tablero (100 % trazables)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lumMod val="95000"/>
              <a:lumOff val="5000"/>
            </a:schemeClr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816352"/>
            <a:ext cx="8229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Big Data en una sola solución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958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ETL → Data Mart → Power BI · PySpark + Parquet para telemetría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parte en papel a horas validadas y trazables</a:t>
            </a:r>
            <a:endParaRPr lang="en-US" sz="18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950BB60-E8C5-470F-8F50-8DAA5330E6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7200" y="137161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33155" y="253746"/>
            <a:ext cx="5219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Problemática: el parte en papel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61872"/>
            <a:ext cx="18288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425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horas en parte físico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178308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0604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1261872"/>
            <a:ext cx="18288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18425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a Excel y a sistema de MARSA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178308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5488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261872"/>
            <a:ext cx="18288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8425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MARSA, sin validación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178308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90372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C00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1261872"/>
            <a:ext cx="18288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8425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posibles discrepancias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errores: fin &lt; inicio, jornadas &gt; 24 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91840" y="283464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dispersas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38328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mantenimiento, RR. HH. y SST sin conexión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26480" y="283464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 del cliente para conocer sus horas</a:t>
            </a:r>
            <a:endParaRPr lang="en-US" sz="13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F4032308-8ED1-4179-A604-646C676CD29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39143" y="234835"/>
            <a:ext cx="40452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78992"/>
            <a:ext cx="822960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8361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trazar las horas motor: 100 % de las horas del tablero provienen de registros validados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OE-01 Analizar el proceso actual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1488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4612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OE-02 Base de datos en SQL Server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21488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OE-03 ETL + modelo estrella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OE-04 Dashboard con indicadores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46120" y="292608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4612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OE-05 Validación y exportación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</a:t>
            </a:r>
            <a:r>
              <a:rPr lang="en-US" sz="14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de volquetes · reportes exportables para MARSA     </a:t>
            </a: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Fuera: </a:t>
            </a:r>
            <a:r>
              <a:rPr lang="en-US" sz="14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tiempo real con MARSA · otras líneas de negocio</a:t>
            </a:r>
            <a:endParaRPr lang="en-US" sz="1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227E3EF-68D5-47A1-B50B-A960F85217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91542" y="253746"/>
            <a:ext cx="503513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actores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7899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· Calcular horas por unidad y conductor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90195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 · Marcar registros "observados"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72491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· Procesar telemetría (RPM, estados)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107899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· Escalar hasta 5 M de registros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18288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90195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· Filtros en Power BI &lt; 2 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54880" y="2651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2724912"/>
            <a:ext cx="39319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· Telemetría en formato Parquet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977640"/>
            <a:ext cx="1920240" cy="73152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560320" y="3977640"/>
            <a:ext cx="1920240" cy="73152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6032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63440" y="3977640"/>
            <a:ext cx="1920240" cy="73152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766560" y="3977640"/>
            <a:ext cx="1920240" cy="73152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6656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4EDF27E-4511-403D-9C4E-4D92B88CF3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39143" y="228600"/>
            <a:ext cx="55457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integrada</a:t>
            </a:r>
            <a:endParaRPr lang="en-US" sz="2600" dirty="0"/>
          </a:p>
        </p:txBody>
      </p:sp>
      <p:pic>
        <p:nvPicPr>
          <p:cNvPr id="6" name="Image 0" descr="m_ar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75" y="914400"/>
            <a:ext cx="6525450" cy="38404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35155C-9CF0-4104-A968-B297173E95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74124" y="2531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modelo de datos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078992"/>
            <a:ext cx="256032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TransportesLuchito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961388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Volquete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Cliente_Frente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Registro_Horas_Motor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1965960"/>
            <a:ext cx="54864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20624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2542032"/>
            <a:ext cx="21945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Fact_HorasMotor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0220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horas_trabajadas · flag_validado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49040" y="100584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1078992"/>
            <a:ext cx="1828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Dim_Volquete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26480" y="100584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1078992"/>
            <a:ext cx="1828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Dim_Conductor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749040" y="393192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49040" y="4005072"/>
            <a:ext cx="1828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Dim_ClienteFrente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26480" y="393192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26480" y="4005072"/>
            <a:ext cx="1828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03520" y="1691640"/>
            <a:ext cx="0" cy="77724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0" y="3474720"/>
            <a:ext cx="0" cy="45720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" y="3108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en estrella (Kimball) · DM_TransportesLuchito</a:t>
            </a:r>
            <a:endParaRPr lang="en-US" sz="14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8F2B852-3BB1-4867-A33F-645EF46AD0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83280" y="258199"/>
            <a:ext cx="4667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ETL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7043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522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TransportesLuchito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1874520"/>
            <a:ext cx="36576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0972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17043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9522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hora_fin &gt; hora_inicio · máx. 24 h · tolerancia 0.25 h · DATEDIFF/60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1874520"/>
            <a:ext cx="36576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09360" y="10972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lumMod val="50000"/>
              <a:lumOff val="50000"/>
            </a:schemeClr>
          </a:solidFill>
          <a:ln w="12700">
            <a:noFill/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117043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9522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registros limpios al Data Mart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3017520"/>
            <a:ext cx="21945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prueba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0" y="3017520"/>
            <a:ext cx="21945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validados (43.0 h)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0" y="3017520"/>
            <a:ext cx="21945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observados / pendientes</a:t>
            </a:r>
            <a:endParaRPr lang="en-US" sz="12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839E7F0-D83D-46AF-A05A-8364B3046D6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9470" y="260485"/>
            <a:ext cx="40732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4F6F9"/>
          </a:solidFill>
          <a:ln w="381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34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Horas Validadas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CALCULATE(SUM(horas), flag_validado = 1)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F4F6F9"/>
          </a:solidFill>
          <a:ln w="3810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234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Horas Validadas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DIVIDE(validadas, total)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F4F6F9"/>
          </a:solidFill>
          <a:ln w="38100">
            <a:solidFill>
              <a:srgbClr val="2E9E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971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Volquete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AVERAGEX(placas, validadas)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4F6F9"/>
          </a:solidFill>
          <a:ln w="38100">
            <a:solidFill>
              <a:srgbClr val="5A657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971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Mensual %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DATEADD(fecha, -1, MONTH)</a:t>
            </a:r>
            <a:endParaRPr lang="en-US" sz="13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F7D78A2-4332-4494-8BA0-7711067E26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75065" y="240030"/>
            <a:ext cx="5628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Inteligencia de Negocios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217920" y="914400"/>
            <a:ext cx="2468880" cy="914400"/>
          </a:xfrm>
          <a:prstGeom prst="rect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 h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965960"/>
            <a:ext cx="2468880" cy="9144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0" y="1965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h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1965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 Poderosa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3017520"/>
            <a:ext cx="2468880" cy="9144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17920" y="30175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h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30175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Barrick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 + 9.5 + 10.0 = 43.0 h  ·  trazabilidad 100 %</a:t>
            </a:r>
            <a:endParaRPr lang="en-US" sz="18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12F2D9A-B3B8-439B-B27D-74075E012CB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F496850-7493-4607-A5A7-B0F6FAE98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44" y="1096011"/>
            <a:ext cx="5524672" cy="27358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856015" y="208026"/>
            <a:ext cx="42038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Big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17043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80136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Faker: 1 ping/min por volquete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173736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60320" y="10972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117043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80136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columnar (capa Bronze)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173736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54880" y="109728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1">
              <a:lumMod val="50000"/>
              <a:lumOff val="50000"/>
            </a:schemeClr>
          </a:solidFill>
          <a:ln w="12700">
            <a:noFill/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17043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80136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agregaciones groupBy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1737360"/>
            <a:ext cx="274320" cy="0"/>
          </a:xfrm>
          <a:prstGeom prst="line">
            <a:avLst/>
          </a:prstGeom>
          <a:noFill/>
          <a:ln w="25400">
            <a:solidFill>
              <a:srgbClr val="5A657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949440" y="10972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117043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180136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agregada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345,600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 al mes con 8 volquetes (1 por minuto)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274320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4612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M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333756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~24 unidades o muestreo cada 10 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2743200"/>
            <a:ext cx="2651760" cy="13716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</a:t>
            </a:r>
            <a:endParaRPr lang="en-US" sz="3200" dirty="0"/>
          </a:p>
        </p:txBody>
      </p:sp>
      <p:sp>
        <p:nvSpPr>
          <p:cNvPr id="29" name="Text 26"/>
          <p:cNvSpPr txBox="1"/>
          <p:nvPr/>
        </p:nvSpPr>
        <p:spPr>
          <a:xfrm>
            <a:off x="612648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de diseño del experimento</a:t>
            </a:r>
            <a:endParaRPr lang="en-US" sz="12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ACE09F4C-755E-415B-BEBC-CFFECC81EA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60073" y="175840"/>
            <a:ext cx="4269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proyecto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852160" y="914400"/>
            <a:ext cx="283464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52160" y="914400"/>
            <a:ext cx="2834640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SQL Server: tablas y ETL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852160" y="1783080"/>
            <a:ext cx="28346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52160" y="1783080"/>
            <a:ext cx="2834640" cy="7315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Mart: registros validados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52160" y="2651760"/>
            <a:ext cx="283464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2651760"/>
            <a:ext cx="2834640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Power BI: filtro por cliente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52160" y="3520440"/>
            <a:ext cx="28346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0" y="3520440"/>
            <a:ext cx="2834640" cy="7315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Spark: agregados de telemetría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Telemetría: placa BCD-234 · 13 pings (ilustrativo)</a:t>
            </a:r>
            <a:endParaRPr lang="en-US" sz="1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33B61E7-2B7E-450C-8431-F981885500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69BE699-C459-47A3-A4A1-65D66FB8B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196128"/>
            <a:ext cx="5269753" cy="2804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99112" y="208026"/>
            <a:ext cx="63176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resultados: SQL Server vs Spark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12179015"/>
              </p:ext>
            </p:extLst>
          </p:nvPr>
        </p:nvGraphicFramePr>
        <p:xfrm>
          <a:off x="457200" y="91440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120640" y="91440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120640" y="98755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de arranque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15179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JVM, plan Catalyst y tareas pesan más que 1,000 filas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120640" y="21488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20640" y="222199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&gt; 60 % de mejora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275234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contrastar: faltan corridas de 1 M y 5 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2064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1">
              <a:lumMod val="50000"/>
              <a:lumOff val="50000"/>
            </a:schemeClr>
          </a:solidFill>
          <a:ln w="12700">
            <a:noFill/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34564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actual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 funcional y reproducible</a:t>
            </a:r>
            <a:endParaRPr lang="en-US" sz="11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0F6DE7D-2A7A-45B6-B02B-CF0E3C6F34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15689" y="253746"/>
            <a:ext cx="51776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7899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099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hora incongruente llega al tablero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107899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7099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 h = suma de las 3 vistas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1">
              <a:lumMod val="50000"/>
              <a:lumOff val="50000"/>
            </a:schemeClr>
          </a:solidFill>
          <a:ln w="12700">
            <a:noFill/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107899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de botella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7099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50 % de registros validados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91440" cy="3200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2926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diaria y cola de pendientes en el dashboard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3429000"/>
            <a:ext cx="91440" cy="3200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3832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2 meses reales para la variación mensual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3886200"/>
            <a:ext cx="91440" cy="3200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840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Particionar Parquet, índices y ejecutar 1 M y 5 M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7200" y="4343400"/>
            <a:ext cx="91440" cy="3200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acceso y seguridad por fila antes de datos reales</a:t>
            </a:r>
            <a:endParaRPr lang="en-US" sz="15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FCB2217-3437-475A-AE7A-5ABE8914D4B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9544" y="162307"/>
            <a:ext cx="905772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930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963</Words>
  <Application>Microsoft Office PowerPoint</Application>
  <PresentationFormat>Presentación en pantalla (16:9)</PresentationFormat>
  <Paragraphs>170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Luchito: Control de horas motor con BI y Big Data</dc:title>
  <dc:subject>PptxGenJS Presentation</dc:subject>
  <dc:creator>PptxGenJS</dc:creator>
  <cp:lastModifiedBy>EVELYN LEVANO DIAZ</cp:lastModifiedBy>
  <cp:revision>33</cp:revision>
  <dcterms:created xsi:type="dcterms:W3CDTF">2026-10-11T19:26:46Z</dcterms:created>
  <dcterms:modified xsi:type="dcterms:W3CDTF">2026-10-11T22:31:29Z</dcterms:modified>
</cp:coreProperties>
</file>